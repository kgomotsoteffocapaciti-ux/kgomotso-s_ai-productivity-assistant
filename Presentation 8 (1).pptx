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8BF336-FD12-9CA3-1C3E-588CD1127D9D}" v="712" dt="2026-10-15T14:17:04.243"/>
    <p1510:client id="{FA83880F-DD1F-E2CB-D843-41837BDDB0A4}" v="3" dt="2026-10-16T06:11:31.988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7" autoAdjust="0"/>
    <p:restoredTop sz="95394" autoAdjust="0"/>
  </p:normalViewPr>
  <p:slideViewPr>
    <p:cSldViewPr snapToGrid="0">
      <p:cViewPr>
        <p:scale>
          <a:sx n="100" d="100"/>
          <a:sy n="100" d="100"/>
        </p:scale>
        <p:origin x="120" y="-54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kgomotsoteffo687@gmail.com" TargetMode="External"/><Relationship Id="rId2" Type="http://schemas.openxmlformats.org/officeDocument/2006/relationships/hyperlink" Target="https://www.google.com/url?sa=E&amp;source=gmail&amp;q=https://efficient-effort.lovable.ap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fficient-effort.lovable.app/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257" y="505016"/>
            <a:ext cx="5775656" cy="3284932"/>
          </a:xfrm>
        </p:spPr>
        <p:txBody>
          <a:bodyPr anchor="b">
            <a:normAutofit/>
          </a:bodyPr>
          <a:lstStyle/>
          <a:p>
            <a:r>
              <a:rPr lang="en-US" b="0">
                <a:ea typeface="+mj-lt"/>
                <a:cs typeface="+mj-lt"/>
              </a:rPr>
              <a:t>AI-Productivity-Assistant</a:t>
            </a:r>
            <a:br>
              <a:rPr lang="en-US" b="0" dirty="0">
                <a:ea typeface="+mj-lt"/>
                <a:cs typeface="+mj-lt"/>
              </a:rPr>
            </a:br>
            <a:r>
              <a:rPr lang="en-US" b="0">
                <a:cs typeface="Posterama"/>
              </a:rPr>
              <a:t>Presentation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51B9EA9-E11B-7C55-1BDE-F03170C6A3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 </a:t>
            </a:r>
            <a:r>
              <a:rPr lang="en-US"/>
              <a:t>Kgomotso Teffo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AI-Powered Workplace Assistant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Automating Operational Workflows through Practical AI &amp; Prompt Engineering 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Link of the AI Prototype: </a:t>
            </a:r>
            <a:r>
              <a:rPr lang="en-US" dirty="0">
                <a:ea typeface="+mn-lt"/>
                <a:cs typeface="+mn-lt"/>
                <a:hlinkClick r:id="rId2"/>
              </a:rPr>
              <a:t>https://efficient-effort.lovable.app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Contact: </a:t>
            </a:r>
            <a:r>
              <a:rPr lang="en-US" dirty="0">
                <a:ea typeface="+mn-lt"/>
                <a:cs typeface="+mn-lt"/>
                <a:hlinkClick r:id="rId3"/>
              </a:rPr>
              <a:t>kgomotsoteffo687@gmail.com</a:t>
            </a:r>
            <a:r>
              <a:rPr lang="en-US" dirty="0">
                <a:ea typeface="+mn-lt"/>
                <a:cs typeface="+mn-lt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US" b="0">
                <a:solidFill>
                  <a:schemeClr val="accent6">
                    <a:lumMod val="49000"/>
                  </a:schemeClr>
                </a:solidFill>
                <a:ea typeface="+mj-lt"/>
                <a:cs typeface="+mj-lt"/>
              </a:rPr>
              <a:t>Br</a:t>
            </a: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cs typeface="+mj-lt"/>
              </a:rPr>
            </a:br>
            <a:br>
              <a:rPr lang="en-US" b="0" dirty="0">
                <a:cs typeface="+mj-lt"/>
              </a:rPr>
            </a:br>
            <a:endParaRPr lang="en-US" b="0">
              <a:cs typeface="Posterama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A08D70-D571-98DF-7031-681C660631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9821" y="742164"/>
            <a:ext cx="8299899" cy="48234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u="sng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Eliminating cognitive drag across daily knowledge work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Knowledge workers lose up to 35% of their weekly time writing routine emails, transcribing calls, and creating task breakdowns.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Our solution provides three deterministic prompt-engineered modules under one interface.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90" y="505015"/>
            <a:ext cx="5787751" cy="177302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Three Core Functional Pillars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1829" y="2929548"/>
            <a:ext cx="5794248" cy="2346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/>
              <a:t>Smart email </a:t>
            </a:r>
          </a:p>
          <a:p>
            <a:pPr marL="342900" indent="-342900">
              <a:buChar char="•"/>
            </a:pPr>
            <a:r>
              <a:rPr lang="en-US"/>
              <a:t>Meeting summary </a:t>
            </a:r>
            <a:endParaRPr lang="en-US" dirty="0"/>
          </a:p>
          <a:p>
            <a:pPr marL="342900" indent="-342900">
              <a:buChar char="•"/>
            </a:pPr>
            <a:r>
              <a:rPr lang="en-US">
                <a:ea typeface="+mn-lt"/>
                <a:cs typeface="+mn-lt"/>
              </a:rPr>
              <a:t>Task Plan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cs typeface="Posterama"/>
              </a:rPr>
              <a:t>Smart Email</a:t>
            </a:r>
            <a:r>
              <a:rPr lang="en-US" dirty="0">
                <a:cs typeface="Posterama"/>
              </a:rPr>
              <a:t>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Recipient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What should the email achieve?</a:t>
            </a:r>
            <a:endParaRPr lang="en-US" dirty="0"/>
          </a:p>
          <a:p>
            <a:r>
              <a:rPr lang="en-US"/>
              <a:t>Tone &amp; </a:t>
            </a:r>
            <a:r>
              <a:rPr lang="en-US">
                <a:ea typeface="+mn-lt"/>
                <a:cs typeface="+mn-lt"/>
              </a:rPr>
              <a:t>Key points (optional)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Then generate the email it will give you a full layout of the </a:t>
            </a:r>
            <a:r>
              <a:rPr lang="en-US"/>
              <a:t>email 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EEC543-3A00-E354-F862-97CCF748E0B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Audience Conditioning:</a:t>
            </a:r>
            <a:r>
              <a:rPr lang="en-US">
                <a:ea typeface="+mn-lt"/>
                <a:cs typeface="+mn-lt"/>
              </a:rPr>
              <a:t> Tunes voice for executives, clients, or cross-functional peers.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Negative Constraints:</a:t>
            </a:r>
            <a:r>
              <a:rPr lang="en-US">
                <a:ea typeface="+mn-lt"/>
                <a:cs typeface="+mn-lt"/>
              </a:rPr>
              <a:t> Strictly strips corporate clichés (</a:t>
            </a:r>
            <a:r>
              <a:rPr lang="en-US" i="1">
                <a:ea typeface="+mn-lt"/>
                <a:cs typeface="+mn-lt"/>
              </a:rPr>
              <a:t>"I hope this finds you well"</a:t>
            </a:r>
            <a:r>
              <a:rPr lang="en-US">
                <a:ea typeface="+mn-lt"/>
                <a:cs typeface="+mn-lt"/>
              </a:rPr>
              <a:t>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Clear Action Triggers:</a:t>
            </a:r>
            <a:r>
              <a:rPr lang="en-US">
                <a:ea typeface="+mn-lt"/>
                <a:cs typeface="+mn-lt"/>
              </a:rPr>
              <a:t> Synthesizes deadlines and expected replies in under 1 second.</a:t>
            </a:r>
            <a:endParaRPr lang="en-US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Meeting Summarizer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Automatic transcript and notes cleanup.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Explicit decision and action extraction.</a:t>
            </a:r>
          </a:p>
          <a:p>
            <a:endParaRPr lang="en-US" dirty="0"/>
          </a:p>
          <a:p>
            <a:r>
              <a:rPr lang="en-US"/>
              <a:t>State the full focus and generate the meeting summary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EDEB4-3CB9-E3AD-8C7A-71CDED02BA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Header:</a:t>
            </a:r>
            <a:r>
              <a:rPr lang="en-US">
                <a:ea typeface="+mn-lt"/>
                <a:cs typeface="+mn-lt"/>
              </a:rPr>
              <a:t> Noise-Reduction Architecture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Spoken dialogues contain conversational detours. Our model isolates consensus from open discussions.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Output Standard:</a:t>
            </a:r>
            <a:r>
              <a:rPr lang="en-US">
                <a:ea typeface="+mn-lt"/>
                <a:cs typeface="+mn-lt"/>
              </a:rPr>
              <a:t> Executive Brief 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Ownership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• Target ETA</a:t>
            </a:r>
            <a:endParaRPr lang="en-US"/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Decision Matrix:</a:t>
            </a:r>
            <a:r>
              <a:rPr lang="en-US">
                <a:ea typeface="+mn-lt"/>
                <a:cs typeface="+mn-lt"/>
              </a:rPr>
              <a:t> Record of agreed choices and rationale.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Action Registry:</a:t>
            </a:r>
            <a:r>
              <a:rPr lang="en-US">
                <a:ea typeface="+mn-lt"/>
                <a:cs typeface="+mn-lt"/>
              </a:rPr>
              <a:t> Name of the project and hard due dates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>
                <a:ea typeface="+mj-lt"/>
                <a:cs typeface="+mj-lt"/>
              </a:rPr>
              <a:t>Task Plan Generator</a:t>
            </a:r>
            <a:endParaRPr lang="en-US" sz="4000">
              <a:cs typeface="Posteram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5858" y="2073275"/>
            <a:ext cx="4064075" cy="3687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 </a:t>
            </a:r>
            <a:r>
              <a:rPr lang="en-US"/>
              <a:t>Goals and project </a:t>
            </a:r>
            <a:endParaRPr lang="en-US" dirty="0"/>
          </a:p>
          <a:p>
            <a:pPr marL="365760" lvl="1" indent="0">
              <a:buNone/>
            </a:pPr>
            <a:r>
              <a:rPr lang="en-US" dirty="0"/>
              <a:t>Time fr</a:t>
            </a:r>
            <a:r>
              <a:rPr lang="en-US"/>
              <a:t>ame of the task</a:t>
            </a:r>
          </a:p>
          <a:p>
            <a:pPr marL="365760" lvl="1" indent="0">
              <a:buNone/>
            </a:pPr>
            <a:r>
              <a:rPr lang="en-US">
                <a:ea typeface="+mn-lt"/>
                <a:cs typeface="+mn-lt"/>
              </a:rPr>
              <a:t>Context (optional)</a:t>
            </a:r>
            <a:endParaRPr lang="en-US" dirty="0">
              <a:ea typeface="+mn-lt"/>
              <a:cs typeface="+mn-lt"/>
            </a:endParaRPr>
          </a:p>
          <a:p>
            <a:pPr lvl="1"/>
            <a:endParaRPr lang="en-US" dirty="0"/>
          </a:p>
          <a:p>
            <a:pPr marL="0" lvl="1" indent="0">
              <a:buNone/>
            </a:pPr>
            <a:r>
              <a:rPr lang="en-US" dirty="0"/>
              <a:t>The </a:t>
            </a:r>
            <a:r>
              <a:rPr lang="en-US"/>
              <a:t>protype will plan the task for you </a:t>
            </a:r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9BCBC-C82D-AA35-C5FD-E4228C6689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855" y="2073275"/>
            <a:ext cx="5164743" cy="36877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Step 1: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Goal Intake</a:t>
            </a:r>
            <a:r>
              <a:rPr lang="en-US">
                <a:ea typeface="+mn-lt"/>
                <a:cs typeface="+mn-lt"/>
              </a:rPr>
              <a:t> — Extract high-level objective and constraints.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Step 2: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Work Breakdown</a:t>
            </a:r>
            <a:r>
              <a:rPr lang="en-US">
                <a:ea typeface="+mn-lt"/>
                <a:cs typeface="+mn-lt"/>
              </a:rPr>
              <a:t> — Decompose into logical milestones (Phase 1 to 4).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Step 3: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Resource Routing</a:t>
            </a:r>
            <a:r>
              <a:rPr lang="en-US">
                <a:ea typeface="+mn-lt"/>
                <a:cs typeface="+mn-lt"/>
              </a:rPr>
              <a:t> — Estimate hours and assign RACI roles.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Step 4: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Schema Export</a:t>
            </a:r>
            <a:r>
              <a:rPr lang="en-US">
                <a:ea typeface="+mn-lt"/>
                <a:cs typeface="+mn-lt"/>
              </a:rPr>
              <a:t> — Generate structured JSON or Kanban checklists.</a:t>
            </a:r>
            <a:endParaRPr lang="en-US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47" y="-235373"/>
            <a:ext cx="5641897" cy="3316893"/>
          </a:xfrm>
        </p:spPr>
        <p:txBody>
          <a:bodyPr/>
          <a:lstStyle/>
          <a:p>
            <a:r>
              <a:rPr lang="en-US" b="0">
                <a:solidFill>
                  <a:srgbClr val="00B050"/>
                </a:solidFill>
                <a:ea typeface="+mj-lt"/>
                <a:cs typeface="+mj-lt"/>
              </a:rPr>
              <a:t>Live Demonstration &amp; Deployed Application (Feature Spotlight)</a:t>
            </a:r>
            <a:endParaRPr lang="en-US">
              <a:solidFill>
                <a:srgbClr val="00B050"/>
              </a:solidFill>
              <a:cs typeface="Posterama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454D1F-D2CD-3356-639E-75B37DE30F1F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890306" y="1238704"/>
            <a:ext cx="6192837" cy="368776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Slide Title:</a:t>
            </a:r>
            <a:r>
              <a:rPr lang="en-US">
                <a:ea typeface="+mn-lt"/>
                <a:cs typeface="+mn-lt"/>
              </a:rPr>
              <a:t> Live Production Deployment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Main Headline:</a:t>
            </a:r>
            <a:r>
              <a:rPr lang="en-US">
                <a:ea typeface="+mn-lt"/>
                <a:cs typeface="+mn-lt"/>
              </a:rPr>
              <a:t> Hosted &amp; Accessible on the Web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Description:</a:t>
            </a:r>
            <a:r>
              <a:rPr lang="en-US">
                <a:ea typeface="+mn-lt"/>
                <a:cs typeface="+mn-lt"/>
              </a:rPr>
              <a:t> The assistant is built with responsive client-side state management, instant clipboard copying, and live markdown preview panels.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Live URL Callout: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  <a:hlinkClick r:id="rId2"/>
              </a:rPr>
              <a:t>https://efficient-effort.lovable.app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267017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 Strategic Implementation Roadmap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1255" y="2087880"/>
            <a:ext cx="10198705" cy="30311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Milestone 02 (Next Quarter):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Calendar &amp; Chat Integration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Direct webhooks into Google Workspace, Outlook, and Slack.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Milestone 03 (Future):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Local Vector Knowledge (RAG)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Upload internal company SOPs and PDFs for company-specific memory.</a:t>
            </a:r>
            <a:endParaRPr lang="en-US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446" y="2041386"/>
            <a:ext cx="5864352" cy="2290548"/>
          </a:xfrm>
        </p:spPr>
        <p:txBody>
          <a:bodyPr/>
          <a:lstStyle/>
          <a:p>
            <a:r>
              <a:rPr lang="en-US">
                <a:cs typeface="Posterama"/>
              </a:rPr>
              <a:t>Thank YOU </a:t>
            </a:r>
            <a:endParaRPr lang="en-US" dirty="0">
              <a:cs typeface="Posteram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118903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D01540B-037D-4E23-AFCA-FDDA3CCE13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D714C4-5FE2-48FA-A21E-ED0E7AD411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3F812E-DDE9-40A9-A0BA-64D56AFBFEB8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420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AI-Productivity-Assistant Presentation </vt:lpstr>
      <vt:lpstr>AI-Powered Workplace Assistant</vt:lpstr>
      <vt:lpstr>Br        </vt:lpstr>
      <vt:lpstr>Three Core Functional Pillars</vt:lpstr>
      <vt:lpstr>Smart Email </vt:lpstr>
      <vt:lpstr>Meeting Summarizer</vt:lpstr>
      <vt:lpstr>Task Plan Generator</vt:lpstr>
      <vt:lpstr>Live Demonstration &amp; Deployed Application (Feature Spotlight)</vt:lpstr>
      <vt:lpstr> Strategic Implementation Roadmap</vt:lpstr>
      <vt:lpstr>Thank YOU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215</cp:revision>
  <dcterms:created xsi:type="dcterms:W3CDTF">2026-10-15T13:17:03Z</dcterms:created>
  <dcterms:modified xsi:type="dcterms:W3CDTF">2026-10-16T06:11:44Z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